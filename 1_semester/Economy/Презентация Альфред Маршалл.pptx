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Merriweather" panose="00000500000000000000" pitchFamily="2" charset="-52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88"/>
    <a:srgbClr val="C5A0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79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24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00950" y="1524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767929"/>
            <a:ext cx="6660832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Альфред</a:t>
            </a:r>
            <a:r>
              <a:rPr lang="en-US" sz="54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Маршалл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466951"/>
            <a:ext cx="666083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Великий</a:t>
            </a:r>
            <a:r>
              <a:rPr lang="en-US" sz="2400" b="0" i="0" u="none" strike="noStrike" cap="none" dirty="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Экономист</a:t>
            </a:r>
            <a:r>
              <a:rPr lang="en-US" sz="2400" b="0" i="0" u="none" strike="noStrike" cap="none" dirty="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 (1842–1924)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571851"/>
            <a:ext cx="4656534" cy="37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Основатель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неоклассического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направления</a:t>
            </a:r>
            <a:endParaRPr dirty="0"/>
          </a:p>
        </p:txBody>
      </p:sp>
      <p:sp>
        <p:nvSpPr>
          <p:cNvPr id="89" name="Google Shape;89;p13"/>
          <p:cNvSpPr/>
          <p:nvPr/>
        </p:nvSpPr>
        <p:spPr>
          <a:xfrm>
            <a:off x="571500" y="4381351"/>
            <a:ext cx="4656534" cy="9525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Рисунок 8" descr="Изображение выглядит как одежда, человек, Человеческое лицо, в помещени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D264680-5C28-315F-5332-199249D7F1A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/>
          <a:srcRect t="5796" b="26302"/>
          <a:stretch/>
        </p:blipFill>
        <p:spPr>
          <a:xfrm>
            <a:off x="7677150" y="1600200"/>
            <a:ext cx="3657600" cy="3657600"/>
          </a:xfrm>
          <a:prstGeom prst="flowChartConnector">
            <a:avLst/>
          </a:prstGeom>
          <a:effectLst>
            <a:softEdge rad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0262"/>
            <a:ext cx="52387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0262"/>
            <a:ext cx="523875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2500" y="2528887"/>
            <a:ext cx="47005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Промышленная Революция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033712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Эпоха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бурного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роста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производства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урбанизации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технологического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прогресса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Транспортная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революция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железные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дороги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изменила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структуру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рынков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сделав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их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глобальными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443412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Возникновение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"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рабочего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вопроса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 и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рост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социалистических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движений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как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реакция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неравенство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0" y="2528887"/>
            <a:ext cx="47005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Маржинальная Революция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0" y="3033712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 1870-х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годах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Джевонс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Менгер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Вальрас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произошел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сдвиг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фокуса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с "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издержек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производства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 (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классика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"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полезность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 и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предельные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величины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0" y="4443412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Маршалл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синтезировал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эти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подходы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создав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фундамент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современной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микроэкономики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Мир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в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эпоху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Маршалла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(1842–1924)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923925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География Жизни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78117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Лондон и Кембридж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3812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Маршалл родился в Бермондси, Лондон, в семье кассира Банка Англии. Однако его интеллектуальным домом стал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Кембриджский университет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6290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Он преподавал в Бристоле и Оксфорде, но именно возвращение в Кембридж в 1885 году ознаменовало расцвет его научной школы.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8768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Каждое лето он проводил в Альпах, где во время долгих прогулок обдумывал свои экономические теории.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1332000" y="3852000"/>
            <a:ext cx="9525000" cy="381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8414" y="165306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369289" y="2319815"/>
            <a:ext cx="1714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1842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474064" y="2710340"/>
            <a:ext cx="1504950" cy="83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Рождение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Лондоне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Отказ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от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карьеры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священника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ради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математики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6503" y="5930836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3646295" y="4908982"/>
            <a:ext cx="1714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1865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3684097" y="5299507"/>
            <a:ext cx="1638746" cy="1053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Окончил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Кембридж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(2-й в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списке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лучших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математиков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).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Увлечение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этикой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экономикой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3326" y="172926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384201" y="2396015"/>
            <a:ext cx="1714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1877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411883" y="2786540"/>
            <a:ext cx="1659135" cy="626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Брак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с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Мэри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Пэйли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Вынужденный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уход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из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Кембриджа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Бристоль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0271" y="425768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211146" y="4924431"/>
            <a:ext cx="1714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1890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269933" y="5314956"/>
            <a:ext cx="159692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Публикация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главного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труда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«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Принципы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экономической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науки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».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Краткая Биография</a:t>
            </a:r>
            <a:endParaRPr/>
          </a:p>
        </p:txBody>
      </p:sp>
      <p:sp>
        <p:nvSpPr>
          <p:cNvPr id="2" name="Блок-схема: узел 1">
            <a:extLst>
              <a:ext uri="{FF2B5EF4-FFF2-40B4-BE49-F238E27FC236}">
                <a16:creationId xmlns:a16="http://schemas.microsoft.com/office/drawing/2014/main" id="{7C9A4901-4133-470F-8983-1E757D88A216}"/>
              </a:ext>
            </a:extLst>
          </p:cNvPr>
          <p:cNvSpPr/>
          <p:nvPr/>
        </p:nvSpPr>
        <p:spPr>
          <a:xfrm>
            <a:off x="7003326" y="1738790"/>
            <a:ext cx="457200" cy="457200"/>
          </a:xfrm>
          <a:prstGeom prst="flowChartConnector">
            <a:avLst/>
          </a:prstGeom>
          <a:solidFill>
            <a:srgbClr val="C5A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0" name="Google Shape;140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5251" y="189119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Блок-схема: узел 2">
            <a:extLst>
              <a:ext uri="{FF2B5EF4-FFF2-40B4-BE49-F238E27FC236}">
                <a16:creationId xmlns:a16="http://schemas.microsoft.com/office/drawing/2014/main" id="{3289E4E0-5410-7900-6E8E-2B4F7EB26B58}"/>
              </a:ext>
            </a:extLst>
          </p:cNvPr>
          <p:cNvSpPr/>
          <p:nvPr/>
        </p:nvSpPr>
        <p:spPr>
          <a:xfrm>
            <a:off x="4265420" y="4261282"/>
            <a:ext cx="457200" cy="457200"/>
          </a:xfrm>
          <a:prstGeom prst="flowChartConnector">
            <a:avLst/>
          </a:prstGeom>
          <a:solidFill>
            <a:srgbClr val="C5A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8295" y="440415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Блок-схема: узел 3">
            <a:extLst>
              <a:ext uri="{FF2B5EF4-FFF2-40B4-BE49-F238E27FC236}">
                <a16:creationId xmlns:a16="http://schemas.microsoft.com/office/drawing/2014/main" id="{3DD57061-5803-6B5A-7E2A-B911B1DFD8EA}"/>
              </a:ext>
            </a:extLst>
          </p:cNvPr>
          <p:cNvSpPr/>
          <p:nvPr/>
        </p:nvSpPr>
        <p:spPr>
          <a:xfrm>
            <a:off x="8849321" y="4267206"/>
            <a:ext cx="457200" cy="457200"/>
          </a:xfrm>
          <a:prstGeom prst="flowChartConnector">
            <a:avLst/>
          </a:prstGeom>
          <a:solidFill>
            <a:srgbClr val="C5A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01721" y="4419606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Блок-схема: узел 4">
            <a:extLst>
              <a:ext uri="{FF2B5EF4-FFF2-40B4-BE49-F238E27FC236}">
                <a16:creationId xmlns:a16="http://schemas.microsoft.com/office/drawing/2014/main" id="{66B68A83-6EC5-F13B-34F6-676CC138E199}"/>
              </a:ext>
            </a:extLst>
          </p:cNvPr>
          <p:cNvSpPr/>
          <p:nvPr/>
        </p:nvSpPr>
        <p:spPr>
          <a:xfrm>
            <a:off x="1997939" y="1672263"/>
            <a:ext cx="457200" cy="457200"/>
          </a:xfrm>
          <a:prstGeom prst="flowChartConnector">
            <a:avLst/>
          </a:prstGeom>
          <a:solidFill>
            <a:srgbClr val="C5A0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59864" y="181499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400413" y="2432744"/>
            <a:ext cx="9391173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Кембриджская</a:t>
            </a:r>
            <a:r>
              <a:rPr lang="en-US" sz="6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60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Школа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2286000" y="381386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Маршалл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стал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отцом-основателем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неоклассического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направления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объединив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классическую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теорию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Рикардо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с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теорией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предельной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полезности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013" y="2481411"/>
            <a:ext cx="3492549" cy="306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57598"/>
            <a:ext cx="3492549" cy="306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57598"/>
            <a:ext cx="3492549" cy="306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74334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84223" y="3410098"/>
            <a:ext cx="30671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Ножницы Маршалла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57250" y="3829198"/>
            <a:ext cx="2921049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Цена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определяется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не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только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издержками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предложение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или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полезностью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спрос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), а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их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взаимодействием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Как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два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лезвия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ножниц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они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равноправны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4562523" y="3410098"/>
            <a:ext cx="30671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Эластичность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4635549" y="3829198"/>
            <a:ext cx="292104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Ввел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понятие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ценовой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эластичности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спроса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меры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чувствительности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объема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спроса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к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изменению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цены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товара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6174" y="274334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340822" y="3410098"/>
            <a:ext cx="30671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Фактор</a:t>
            </a:r>
            <a:r>
              <a:rPr lang="en-US" sz="165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65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Времени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8413849" y="3829198"/>
            <a:ext cx="292104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Разделил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рыночные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периоды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мгновенный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краткосрочный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долгосрочный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показав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как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меняется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влияние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спроса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2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предложения</a:t>
            </a:r>
            <a:r>
              <a:rPr 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Основные Идеи и Взгляды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 descr="Тенденция к повышению со сплошной заливкой">
            <a:extLst>
              <a:ext uri="{FF2B5EF4-FFF2-40B4-BE49-F238E27FC236}">
                <a16:creationId xmlns:a16="http://schemas.microsoft.com/office/drawing/2014/main" id="{091D2D2A-186D-B819-C177-B6E23C7C95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02187" y="2740060"/>
            <a:ext cx="670038" cy="6700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5594" y="1890178"/>
            <a:ext cx="5423434" cy="4201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3962" y="1998546"/>
            <a:ext cx="5206699" cy="398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74479" y="2290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2228850"/>
            <a:ext cx="50958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«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Принципы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экономической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науки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» (1890)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Главная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книга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его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жизни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ставшая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основным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учебником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экономике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полвека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8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переизданий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жизни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автора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725278" y="37369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3686175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«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Экономика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промышленности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» (1879)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Написана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совместно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с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женой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Мэри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Пэйли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Ранний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анализ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производственных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процессов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78" name="Google Shape;178;p19"/>
          <p:cNvSpPr txBox="1"/>
          <p:nvPr/>
        </p:nvSpPr>
        <p:spPr>
          <a:xfrm>
            <a:off x="707816" y="49053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762000" y="4838700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«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Промышленность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5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торговля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» (1919)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Анализ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промышленной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организации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корпоративного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управления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закате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карьеры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Основные Труды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0262"/>
            <a:ext cx="52387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0262"/>
            <a:ext cx="52387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557712"/>
            <a:ext cx="1429494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952500" y="2528887"/>
            <a:ext cx="47005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Математика как инструмент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52500" y="3033712"/>
            <a:ext cx="4476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Маршалл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был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блестящим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математиком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считал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что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математика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должна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служить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экономике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а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управлять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ею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Он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прятал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формулы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приложения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чтобы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текст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был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доступен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бизнесменам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6762750" y="2528887"/>
            <a:ext cx="470058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Эволюционная Экономика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762750" y="3033712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отличие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от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механистического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подхода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Вальраса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Маршалл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видел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экономику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как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органическую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эволюционирующую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систему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Его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знаменитая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фраза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dirty="0"/>
          </a:p>
        </p:txBody>
      </p:sp>
      <p:sp>
        <p:nvSpPr>
          <p:cNvPr id="194" name="Google Shape;194;p20"/>
          <p:cNvSpPr txBox="1"/>
          <p:nvPr/>
        </p:nvSpPr>
        <p:spPr>
          <a:xfrm>
            <a:off x="6762750" y="4443412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«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Мекка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экономиста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находится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скорее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экономической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биологии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чем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экономической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динамике</a:t>
            </a:r>
            <a:r>
              <a:rPr lang="en-US" sz="1500" b="0" i="1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».</a:t>
            </a:r>
            <a:endParaRPr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Оценка и Наследие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5337" y="2077491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3334791"/>
            <a:ext cx="8572500" cy="16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«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Экономическая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наука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—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это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учение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о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том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,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как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человечество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устраивает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свою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жизнь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в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обыденных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деловых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150" b="0" i="1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делах</a:t>
            </a:r>
            <a:r>
              <a:rPr lang="en-US" sz="3150" b="0" i="1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»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5395912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—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Альфред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Маршалл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«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Принципы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экономической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науки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Цитата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5A06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1475421" y="2623442"/>
            <a:ext cx="9241155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Спасибо за внимание!</a:t>
            </a:r>
            <a:endParaRPr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8548C56-478D-1D5B-B7D2-88A154A812D2}"/>
              </a:ext>
            </a:extLst>
          </p:cNvPr>
          <p:cNvSpPr/>
          <p:nvPr/>
        </p:nvSpPr>
        <p:spPr>
          <a:xfrm flipV="1">
            <a:off x="1864899" y="3585467"/>
            <a:ext cx="8640000" cy="54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479</Words>
  <Application>Microsoft Office PowerPoint</Application>
  <PresentationFormat>Широкоэкранный</PresentationFormat>
  <Paragraphs>50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DM Sans</vt:lpstr>
      <vt:lpstr>Arial</vt:lpstr>
      <vt:lpstr>Calibri</vt:lpstr>
      <vt:lpstr>Merriweather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Саша Аганичев</cp:lastModifiedBy>
  <cp:revision>5</cp:revision>
  <dcterms:modified xsi:type="dcterms:W3CDTF">2025-11-26T12:28:14Z</dcterms:modified>
</cp:coreProperties>
</file>